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Fira Code Bold" panose="020B0604020202020204" charset="0"/>
      <p:regular r:id="rId11"/>
    </p:embeddedFont>
    <p:embeddedFont>
      <p:font typeface="Garet Bold Italics" panose="020B0604020202020204" charset="0"/>
      <p:regular r:id="rId12"/>
    </p:embeddedFont>
    <p:embeddedFont>
      <p:font typeface="Pinyon Script" panose="020B0604020202020204" charset="0"/>
      <p:regular r:id="rId13"/>
    </p:embeddedFont>
    <p:embeddedFont>
      <p:font typeface="Questrial" pitchFamily="2" charset="0"/>
      <p:regular r:id="rId14"/>
    </p:embeddedFont>
    <p:embeddedFont>
      <p:font typeface="RQND Pro Condense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663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shi Dekate" userId="bc607d741536198d" providerId="LiveId" clId="{012AC3C5-14C8-4171-A312-B797E49777FD}"/>
    <pc:docChg chg="modSld">
      <pc:chgData name="Khushi Dekate" userId="bc607d741536198d" providerId="LiveId" clId="{012AC3C5-14C8-4171-A312-B797E49777FD}" dt="2025-11-03T16:46:02.216" v="3" actId="1076"/>
      <pc:docMkLst>
        <pc:docMk/>
      </pc:docMkLst>
      <pc:sldChg chg="modSp mod">
        <pc:chgData name="Khushi Dekate" userId="bc607d741536198d" providerId="LiveId" clId="{012AC3C5-14C8-4171-A312-B797E49777FD}" dt="2025-11-03T16:46:02.216" v="3" actId="1076"/>
        <pc:sldMkLst>
          <pc:docMk/>
          <pc:sldMk cId="0" sldId="256"/>
        </pc:sldMkLst>
        <pc:spChg chg="mod">
          <ac:chgData name="Khushi Dekate" userId="bc607d741536198d" providerId="LiveId" clId="{012AC3C5-14C8-4171-A312-B797E49777FD}" dt="2025-11-03T16:46:02.216" v="3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Khushi Dekate" userId="bc607d741536198d" providerId="LiveId" clId="{012AC3C5-14C8-4171-A312-B797E49777FD}" dt="2025-11-03T16:43:17.457" v="1" actId="1076"/>
          <ac:spMkLst>
            <pc:docMk/>
            <pc:sldMk cId="0" sldId="256"/>
            <ac:spMk id="7" creationId="{00000000-0000-0000-0000-000000000000}"/>
          </ac:spMkLst>
        </pc:spChg>
        <pc:grpChg chg="mod">
          <ac:chgData name="Khushi Dekate" userId="bc607d741536198d" providerId="LiveId" clId="{012AC3C5-14C8-4171-A312-B797E49777FD}" dt="2025-11-03T16:43:26.176" v="2" actId="1076"/>
          <ac:grpSpMkLst>
            <pc:docMk/>
            <pc:sldMk cId="0" sldId="256"/>
            <ac:grpSpMk id="3" creationId="{00000000-0000-0000-0000-00000000000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C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45811" y="419100"/>
            <a:ext cx="13962392" cy="9211615"/>
          </a:xfrm>
          <a:custGeom>
            <a:avLst/>
            <a:gdLst/>
            <a:ahLst/>
            <a:cxnLst/>
            <a:rect l="l" t="t" r="r" b="b"/>
            <a:pathLst>
              <a:path w="13962392" h="9211615">
                <a:moveTo>
                  <a:pt x="0" y="0"/>
                </a:moveTo>
                <a:lnTo>
                  <a:pt x="13962392" y="0"/>
                </a:lnTo>
                <a:lnTo>
                  <a:pt x="13962392" y="9211616"/>
                </a:lnTo>
                <a:lnTo>
                  <a:pt x="0" y="921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963" b="-8113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494047" y="3998093"/>
            <a:ext cx="9299903" cy="1933632"/>
            <a:chOff x="0" y="0"/>
            <a:chExt cx="2449357" cy="5092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9357" cy="509269"/>
            </a:xfrm>
            <a:custGeom>
              <a:avLst/>
              <a:gdLst/>
              <a:ahLst/>
              <a:cxnLst/>
              <a:rect l="l" t="t" r="r" b="b"/>
              <a:pathLst>
                <a:path w="2449357" h="509269">
                  <a:moveTo>
                    <a:pt x="2246157" y="0"/>
                  </a:moveTo>
                  <a:lnTo>
                    <a:pt x="0" y="0"/>
                  </a:lnTo>
                  <a:lnTo>
                    <a:pt x="0" y="509269"/>
                  </a:lnTo>
                  <a:lnTo>
                    <a:pt x="2246157" y="509269"/>
                  </a:lnTo>
                  <a:lnTo>
                    <a:pt x="2449357" y="254635"/>
                  </a:lnTo>
                  <a:lnTo>
                    <a:pt x="2246157" y="0"/>
                  </a:lnTo>
                  <a:close/>
                </a:path>
              </a:pathLst>
            </a:custGeom>
            <a:solidFill>
              <a:srgbClr val="E1DCD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2335057" cy="5092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926025" y="4392101"/>
            <a:ext cx="12435949" cy="1145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20"/>
              </a:lnSpc>
            </a:pPr>
            <a:r>
              <a:rPr lang="en-US" sz="12034" spc="-240" dirty="0">
                <a:solidFill>
                  <a:srgbClr val="7A0000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WINE QUALITY PREDICTION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97875" y="5446833"/>
            <a:ext cx="11658265" cy="306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7A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COMPARATIVE ANALYSIS OF REGRESSION ALGORITHMS ON THE WINE QUALITY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C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070" y="1137579"/>
            <a:ext cx="15545860" cy="8011843"/>
            <a:chOff x="0" y="0"/>
            <a:chExt cx="20727814" cy="10682457"/>
          </a:xfrm>
        </p:grpSpPr>
        <p:grpSp>
          <p:nvGrpSpPr>
            <p:cNvPr id="3" name="Group 3"/>
            <p:cNvGrpSpPr/>
            <p:nvPr/>
          </p:nvGrpSpPr>
          <p:grpSpPr>
            <a:xfrm>
              <a:off x="1428495" y="3700618"/>
              <a:ext cx="8098760" cy="6569756"/>
              <a:chOff x="0" y="0"/>
              <a:chExt cx="2010023" cy="163054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010023" cy="1630541"/>
              </a:xfrm>
              <a:custGeom>
                <a:avLst/>
                <a:gdLst/>
                <a:ahLst/>
                <a:cxnLst/>
                <a:rect l="l" t="t" r="r" b="b"/>
                <a:pathLst>
                  <a:path w="2010023" h="1630541">
                    <a:moveTo>
                      <a:pt x="0" y="0"/>
                    </a:moveTo>
                    <a:lnTo>
                      <a:pt x="2010023" y="0"/>
                    </a:lnTo>
                    <a:lnTo>
                      <a:pt x="2010023" y="1630541"/>
                    </a:lnTo>
                    <a:lnTo>
                      <a:pt x="0" y="1630541"/>
                    </a:lnTo>
                    <a:close/>
                  </a:path>
                </a:pathLst>
              </a:custGeom>
              <a:solidFill>
                <a:srgbClr val="7A0000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2010023" cy="1649591"/>
              </a:xfrm>
              <a:prstGeom prst="rect">
                <a:avLst/>
              </a:prstGeom>
            </p:spPr>
            <p:txBody>
              <a:bodyPr lIns="39793" tIns="39793" rIns="39793" bIns="39793" rtlCol="0" anchor="ctr"/>
              <a:lstStyle/>
              <a:p>
                <a:pPr algn="ctr">
                  <a:lnSpc>
                    <a:spcPts val="2784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1667324" y="3956078"/>
              <a:ext cx="7621102" cy="6058836"/>
            </a:xfrm>
            <a:custGeom>
              <a:avLst/>
              <a:gdLst/>
              <a:ahLst/>
              <a:cxnLst/>
              <a:rect l="l" t="t" r="r" b="b"/>
              <a:pathLst>
                <a:path w="7621102" h="6058836">
                  <a:moveTo>
                    <a:pt x="0" y="0"/>
                  </a:moveTo>
                  <a:lnTo>
                    <a:pt x="7621103" y="0"/>
                  </a:lnTo>
                  <a:lnTo>
                    <a:pt x="7621103" y="6058835"/>
                  </a:lnTo>
                  <a:lnTo>
                    <a:pt x="0" y="605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5" b="-22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76200"/>
              <a:ext cx="19230327" cy="3773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45"/>
                </a:lnSpc>
              </a:pPr>
              <a:r>
                <a:rPr lang="en-US" sz="19004">
                  <a:solidFill>
                    <a:srgbClr val="7A0000"/>
                  </a:solidFill>
                  <a:latin typeface="Pinyon Script"/>
                  <a:ea typeface="Pinyon Script"/>
                  <a:cs typeface="Pinyon Script"/>
                  <a:sym typeface="Pinyon Script"/>
                </a:rPr>
                <a:t>Data Overview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450029" y="3652993"/>
              <a:ext cx="9277785" cy="29948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987"/>
                </a:lnSpc>
              </a:pPr>
              <a:r>
                <a:rPr lang="en-US" sz="2133">
                  <a:solidFill>
                    <a:srgbClr val="7A0000"/>
                  </a:solidFill>
                  <a:latin typeface="Questrial"/>
                  <a:ea typeface="Questrial"/>
                  <a:cs typeface="Questrial"/>
                  <a:sym typeface="Questrial"/>
                </a:rPr>
                <a:t>This dataset contains physicochemical test results of red wines (such as acidity, alcohol, pH, sulphates, etc.) along with a quality score rated by professional wine tasters. This dataset contains physicochemical test results of red wines (such as acidity, alcohol, pH, sulphates, etc.) along with a quality score rated by professional wine tasters.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95564" y="8316458"/>
              <a:ext cx="5534764" cy="23659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38728" lvl="1" indent="-219364" algn="l">
                <a:lnSpc>
                  <a:spcPts val="2844"/>
                </a:lnSpc>
                <a:buFont typeface="Arial"/>
                <a:buChar char="•"/>
              </a:pPr>
              <a:r>
                <a:rPr lang="en-US" sz="2032">
                  <a:solidFill>
                    <a:srgbClr val="A14949"/>
                  </a:solidFill>
                  <a:latin typeface="Questrial"/>
                  <a:ea typeface="Questrial"/>
                  <a:cs typeface="Questrial"/>
                  <a:sym typeface="Questrial"/>
                </a:rPr>
                <a:t>Total samples: 1599</a:t>
              </a:r>
            </a:p>
            <a:p>
              <a:pPr marL="438728" lvl="1" indent="-219364" algn="l">
                <a:lnSpc>
                  <a:spcPts val="2844"/>
                </a:lnSpc>
                <a:buFont typeface="Arial"/>
                <a:buChar char="•"/>
              </a:pPr>
              <a:r>
                <a:rPr lang="en-US" sz="2032">
                  <a:solidFill>
                    <a:srgbClr val="A14949"/>
                  </a:solidFill>
                  <a:latin typeface="Questrial"/>
                  <a:ea typeface="Questrial"/>
                  <a:cs typeface="Questrial"/>
                  <a:sym typeface="Questrial"/>
                </a:rPr>
                <a:t>Input features: 11</a:t>
              </a:r>
            </a:p>
            <a:p>
              <a:pPr marL="438728" lvl="1" indent="-219364" algn="l">
                <a:lnSpc>
                  <a:spcPts val="2844"/>
                </a:lnSpc>
                <a:buFont typeface="Arial"/>
                <a:buChar char="•"/>
              </a:pPr>
              <a:r>
                <a:rPr lang="en-US" sz="2032">
                  <a:solidFill>
                    <a:srgbClr val="A14949"/>
                  </a:solidFill>
                  <a:latin typeface="Questrial"/>
                  <a:ea typeface="Questrial"/>
                  <a:cs typeface="Questrial"/>
                  <a:sym typeface="Questrial"/>
                </a:rPr>
                <a:t>Target variable: 1 (quality)</a:t>
              </a:r>
            </a:p>
            <a:p>
              <a:pPr marL="438728" lvl="1" indent="-219364" algn="l">
                <a:lnSpc>
                  <a:spcPts val="2844"/>
                </a:lnSpc>
                <a:buFont typeface="Arial"/>
                <a:buChar char="•"/>
              </a:pPr>
              <a:r>
                <a:rPr lang="en-US" sz="2032">
                  <a:solidFill>
                    <a:srgbClr val="A14949"/>
                  </a:solidFill>
                  <a:latin typeface="Questrial"/>
                  <a:ea typeface="Questrial"/>
                  <a:cs typeface="Questrial"/>
                  <a:sym typeface="Questrial"/>
                </a:rPr>
                <a:t>Data type: Numeric (continuous)</a:t>
              </a:r>
            </a:p>
            <a:p>
              <a:pPr algn="l">
                <a:lnSpc>
                  <a:spcPts val="2844"/>
                </a:lnSpc>
              </a:pPr>
              <a:endParaRPr lang="en-US" sz="2032">
                <a:solidFill>
                  <a:srgbClr val="A14949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797214" y="7299539"/>
              <a:ext cx="5331463" cy="5195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84"/>
                </a:lnSpc>
              </a:pPr>
              <a:r>
                <a:rPr lang="en-US" sz="2653" b="1" i="1">
                  <a:solidFill>
                    <a:srgbClr val="7A0000"/>
                  </a:solidFill>
                  <a:latin typeface="Garet Bold Italics"/>
                  <a:ea typeface="Garet Bold Italics"/>
                  <a:cs typeface="Garet Bold Italics"/>
                  <a:sym typeface="Garet Bold Italics"/>
                </a:rPr>
                <a:t>DATASET STATISTICS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C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98102" y="3546204"/>
            <a:ext cx="7899807" cy="5480599"/>
            <a:chOff x="0" y="0"/>
            <a:chExt cx="2430658" cy="16863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0658" cy="1686302"/>
            </a:xfrm>
            <a:custGeom>
              <a:avLst/>
              <a:gdLst/>
              <a:ahLst/>
              <a:cxnLst/>
              <a:rect l="l" t="t" r="r" b="b"/>
              <a:pathLst>
                <a:path w="2430658" h="1686302">
                  <a:moveTo>
                    <a:pt x="0" y="0"/>
                  </a:moveTo>
                  <a:lnTo>
                    <a:pt x="2430658" y="0"/>
                  </a:lnTo>
                  <a:lnTo>
                    <a:pt x="2430658" y="1686302"/>
                  </a:lnTo>
                  <a:lnTo>
                    <a:pt x="0" y="1686302"/>
                  </a:lnTo>
                  <a:close/>
                </a:path>
              </a:pathLst>
            </a:custGeom>
            <a:solidFill>
              <a:srgbClr val="7A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430658" cy="1705352"/>
            </a:xfrm>
            <a:prstGeom prst="rect">
              <a:avLst/>
            </a:prstGeom>
          </p:spPr>
          <p:txBody>
            <a:bodyPr lIns="43484" tIns="43484" rIns="43484" bIns="43484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294610" y="3795187"/>
            <a:ext cx="7506791" cy="4982633"/>
          </a:xfrm>
          <a:custGeom>
            <a:avLst/>
            <a:gdLst/>
            <a:ahLst/>
            <a:cxnLst/>
            <a:rect l="l" t="t" r="r" b="b"/>
            <a:pathLst>
              <a:path w="7506791" h="4982633">
                <a:moveTo>
                  <a:pt x="0" y="0"/>
                </a:moveTo>
                <a:lnTo>
                  <a:pt x="7506791" y="0"/>
                </a:lnTo>
                <a:lnTo>
                  <a:pt x="7506791" y="4982633"/>
                </a:lnTo>
                <a:lnTo>
                  <a:pt x="0" y="4982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786071" y="1076325"/>
            <a:ext cx="14473229" cy="222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00"/>
              </a:lnSpc>
            </a:pPr>
            <a:r>
              <a:rPr lang="en-US" sz="15000">
                <a:solidFill>
                  <a:srgbClr val="7A0000"/>
                </a:solidFill>
                <a:latin typeface="Pinyon Script"/>
                <a:ea typeface="Pinyon Script"/>
                <a:cs typeface="Pinyon Script"/>
                <a:sym typeface="Pinyon Script"/>
              </a:rPr>
              <a:t>Feature Distribution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41631" y="4222436"/>
            <a:ext cx="6817669" cy="408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7A0000"/>
                </a:solidFill>
                <a:latin typeface="Questrial"/>
                <a:ea typeface="Questrial"/>
                <a:cs typeface="Questrial"/>
                <a:sym typeface="Questrial"/>
              </a:rPr>
              <a:t>Analyzed all 11 chemical features using histograms.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7A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7A0000"/>
                </a:solidFill>
                <a:latin typeface="Questrial"/>
                <a:ea typeface="Questrial"/>
                <a:cs typeface="Questrial"/>
                <a:sym typeface="Questrial"/>
              </a:rPr>
              <a:t>Identified key influential features — alcohol, sulphates, volatile acidity.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7A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7A0000"/>
                </a:solidFill>
                <a:latin typeface="Questrial"/>
                <a:ea typeface="Questrial"/>
                <a:cs typeface="Questrial"/>
                <a:sym typeface="Questrial"/>
              </a:rPr>
              <a:t>Most features are right-skewed but relevant, so none were removed.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7A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7A0000"/>
                </a:solidFill>
                <a:latin typeface="Questrial"/>
                <a:ea typeface="Questrial"/>
                <a:cs typeface="Questrial"/>
                <a:sym typeface="Questrial"/>
              </a:rPr>
              <a:t>Applied Standard Scaler for normalization before training.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7A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341539" y="7145340"/>
            <a:ext cx="3917761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4"/>
              </a:lnSpc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C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418250"/>
            <a:ext cx="16230600" cy="7450499"/>
            <a:chOff x="0" y="0"/>
            <a:chExt cx="21640800" cy="9933999"/>
          </a:xfrm>
        </p:grpSpPr>
        <p:grpSp>
          <p:nvGrpSpPr>
            <p:cNvPr id="3" name="Group 3"/>
            <p:cNvGrpSpPr/>
            <p:nvPr/>
          </p:nvGrpSpPr>
          <p:grpSpPr>
            <a:xfrm>
              <a:off x="10676272" y="1568698"/>
              <a:ext cx="10964528" cy="8365301"/>
              <a:chOff x="0" y="0"/>
              <a:chExt cx="2165833" cy="165240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165833" cy="1652405"/>
              </a:xfrm>
              <a:custGeom>
                <a:avLst/>
                <a:gdLst/>
                <a:ahLst/>
                <a:cxnLst/>
                <a:rect l="l" t="t" r="r" b="b"/>
                <a:pathLst>
                  <a:path w="2165833" h="1652405">
                    <a:moveTo>
                      <a:pt x="0" y="0"/>
                    </a:moveTo>
                    <a:lnTo>
                      <a:pt x="2165833" y="0"/>
                    </a:lnTo>
                    <a:lnTo>
                      <a:pt x="2165833" y="1652405"/>
                    </a:lnTo>
                    <a:lnTo>
                      <a:pt x="0" y="1652405"/>
                    </a:lnTo>
                    <a:close/>
                  </a:path>
                </a:pathLst>
              </a:custGeom>
              <a:solidFill>
                <a:srgbClr val="7A0000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2165833" cy="16714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83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10904667" y="1756932"/>
              <a:ext cx="10477160" cy="7988834"/>
            </a:xfrm>
            <a:custGeom>
              <a:avLst/>
              <a:gdLst/>
              <a:ahLst/>
              <a:cxnLst/>
              <a:rect l="l" t="t" r="r" b="b"/>
              <a:pathLst>
                <a:path w="10477160" h="7988834">
                  <a:moveTo>
                    <a:pt x="0" y="0"/>
                  </a:moveTo>
                  <a:lnTo>
                    <a:pt x="10477159" y="0"/>
                  </a:lnTo>
                  <a:lnTo>
                    <a:pt x="10477159" y="7988834"/>
                  </a:lnTo>
                  <a:lnTo>
                    <a:pt x="0" y="7988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76200"/>
              <a:ext cx="9880966" cy="37735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39"/>
                </a:lnSpc>
              </a:pPr>
              <a:r>
                <a:rPr lang="en-US" sz="18999">
                  <a:solidFill>
                    <a:srgbClr val="7A0000"/>
                  </a:solidFill>
                  <a:latin typeface="Pinyon Script"/>
                  <a:ea typeface="Pinyon Script"/>
                  <a:cs typeface="Pinyon Script"/>
                  <a:sym typeface="Pinyon Script"/>
                </a:rPr>
                <a:t>Outliers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5690" y="4013894"/>
              <a:ext cx="8812936" cy="5920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just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7A0000"/>
                  </a:solidFill>
                  <a:latin typeface="Questrial"/>
                  <a:ea typeface="Questrial"/>
                  <a:cs typeface="Questrial"/>
                  <a:sym typeface="Questrial"/>
                </a:rPr>
                <a:t>Boxplots show the spread and variability of each feature.</a:t>
              </a:r>
            </a:p>
            <a:p>
              <a:pPr algn="just">
                <a:lnSpc>
                  <a:spcPts val="2940"/>
                </a:lnSpc>
              </a:pPr>
              <a:endParaRPr lang="en-US" sz="2100">
                <a:solidFill>
                  <a:srgbClr val="7A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  <a:p>
              <a:pPr marL="453390" lvl="1" indent="-226695" algn="just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7A0000"/>
                  </a:solidFill>
                  <a:latin typeface="Questrial"/>
                  <a:ea typeface="Questrial"/>
                  <a:cs typeface="Questrial"/>
                  <a:sym typeface="Questrial"/>
                </a:rPr>
                <a:t>Outliers are visible in features like residual sugar, total sulfur dioxide, and volatile acidity.</a:t>
              </a:r>
            </a:p>
            <a:p>
              <a:pPr algn="just">
                <a:lnSpc>
                  <a:spcPts val="2940"/>
                </a:lnSpc>
              </a:pPr>
              <a:endParaRPr lang="en-US" sz="2100">
                <a:solidFill>
                  <a:srgbClr val="7A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  <a:p>
              <a:pPr marL="453390" lvl="1" indent="-226695" algn="just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7A0000"/>
                  </a:solidFill>
                  <a:latin typeface="Questrial"/>
                  <a:ea typeface="Questrial"/>
                  <a:cs typeface="Questrial"/>
                  <a:sym typeface="Questrial"/>
                </a:rPr>
                <a:t>These values represent natural variations in wine chemistry rather than data errors.</a:t>
              </a:r>
            </a:p>
            <a:p>
              <a:pPr algn="just">
                <a:lnSpc>
                  <a:spcPts val="2940"/>
                </a:lnSpc>
              </a:pPr>
              <a:endParaRPr lang="en-US" sz="2100">
                <a:solidFill>
                  <a:srgbClr val="7A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  <a:p>
              <a:pPr marL="453390" lvl="1" indent="-226695" algn="just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7A0000"/>
                  </a:solidFill>
                  <a:latin typeface="Questrial"/>
                  <a:ea typeface="Questrial"/>
                  <a:cs typeface="Questrial"/>
                  <a:sym typeface="Questrial"/>
                </a:rPr>
                <a:t>Outliers were retained to preserve data authenticity and capture real-world conditions.</a:t>
              </a:r>
            </a:p>
            <a:p>
              <a:pPr algn="just">
                <a:lnSpc>
                  <a:spcPts val="2940"/>
                </a:lnSpc>
              </a:pPr>
              <a:endParaRPr lang="en-US" sz="2100">
                <a:solidFill>
                  <a:srgbClr val="7A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C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4586" y="1186707"/>
            <a:ext cx="15258828" cy="7913586"/>
            <a:chOff x="0" y="0"/>
            <a:chExt cx="20345104" cy="1055144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3048009"/>
              <a:ext cx="9524704" cy="7503439"/>
              <a:chOff x="0" y="0"/>
              <a:chExt cx="1990183" cy="156784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990183" cy="1567841"/>
              </a:xfrm>
              <a:custGeom>
                <a:avLst/>
                <a:gdLst/>
                <a:ahLst/>
                <a:cxnLst/>
                <a:rect l="l" t="t" r="r" b="b"/>
                <a:pathLst>
                  <a:path w="1990183" h="1567841">
                    <a:moveTo>
                      <a:pt x="0" y="0"/>
                    </a:moveTo>
                    <a:lnTo>
                      <a:pt x="1990183" y="0"/>
                    </a:lnTo>
                    <a:lnTo>
                      <a:pt x="1990183" y="1567841"/>
                    </a:lnTo>
                    <a:lnTo>
                      <a:pt x="0" y="1567841"/>
                    </a:lnTo>
                    <a:close/>
                  </a:path>
                </a:pathLst>
              </a:custGeom>
              <a:solidFill>
                <a:srgbClr val="7A0000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1990183" cy="15868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84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309584" y="3285299"/>
              <a:ext cx="8946821" cy="6967337"/>
            </a:xfrm>
            <a:custGeom>
              <a:avLst/>
              <a:gdLst/>
              <a:ahLst/>
              <a:cxnLst/>
              <a:rect l="l" t="t" r="r" b="b"/>
              <a:pathLst>
                <a:path w="8946821" h="6967337">
                  <a:moveTo>
                    <a:pt x="0" y="0"/>
                  </a:moveTo>
                  <a:lnTo>
                    <a:pt x="8946820" y="0"/>
                  </a:lnTo>
                  <a:lnTo>
                    <a:pt x="8946820" y="6967337"/>
                  </a:lnTo>
                  <a:lnTo>
                    <a:pt x="0" y="6967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2330086" y="47625"/>
              <a:ext cx="18015018" cy="30003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401"/>
                </a:lnSpc>
              </a:pPr>
              <a:r>
                <a:rPr lang="en-US" sz="15001">
                  <a:solidFill>
                    <a:srgbClr val="7A0000"/>
                  </a:solidFill>
                  <a:latin typeface="Pinyon Script"/>
                  <a:ea typeface="Pinyon Script"/>
                  <a:cs typeface="Pinyon Script"/>
                  <a:sym typeface="Pinyon Script"/>
                </a:rPr>
                <a:t>Feature Correlation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429969" y="3568213"/>
              <a:ext cx="9014488" cy="6415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just">
                <a:lnSpc>
                  <a:spcPts val="2939"/>
                </a:lnSpc>
                <a:buFont typeface="Arial"/>
                <a:buChar char="•"/>
              </a:pPr>
              <a:r>
                <a:rPr lang="en-US" sz="2099">
                  <a:solidFill>
                    <a:srgbClr val="7A0000"/>
                  </a:solidFill>
                  <a:latin typeface="Questrial"/>
                  <a:ea typeface="Questrial"/>
                  <a:cs typeface="Questrial"/>
                  <a:sym typeface="Questrial"/>
                </a:rPr>
                <a:t>Alcohol (0.48) and sulphates (0.25) show strong positive correlation with wine quality.</a:t>
              </a:r>
            </a:p>
            <a:p>
              <a:pPr algn="just">
                <a:lnSpc>
                  <a:spcPts val="2939"/>
                </a:lnSpc>
              </a:pPr>
              <a:endParaRPr lang="en-US" sz="2099">
                <a:solidFill>
                  <a:srgbClr val="7A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  <a:p>
              <a:pPr marL="453390" lvl="1" indent="-226695" algn="just">
                <a:lnSpc>
                  <a:spcPts val="2939"/>
                </a:lnSpc>
                <a:buFont typeface="Arial"/>
                <a:buChar char="•"/>
              </a:pPr>
              <a:r>
                <a:rPr lang="en-US" sz="2099">
                  <a:solidFill>
                    <a:srgbClr val="7A0000"/>
                  </a:solidFill>
                  <a:latin typeface="Questrial"/>
                  <a:ea typeface="Questrial"/>
                  <a:cs typeface="Questrial"/>
                  <a:sym typeface="Questrial"/>
                </a:rPr>
                <a:t>Volatile acidity (-0.39) shows a negative correlation, meaning higher acidity reduces quality.</a:t>
              </a:r>
            </a:p>
            <a:p>
              <a:pPr algn="just">
                <a:lnSpc>
                  <a:spcPts val="2939"/>
                </a:lnSpc>
              </a:pPr>
              <a:endParaRPr lang="en-US" sz="2099">
                <a:solidFill>
                  <a:srgbClr val="7A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  <a:p>
              <a:pPr marL="453390" lvl="1" indent="-226695" algn="just">
                <a:lnSpc>
                  <a:spcPts val="2939"/>
                </a:lnSpc>
                <a:buFont typeface="Arial"/>
                <a:buChar char="•"/>
              </a:pPr>
              <a:r>
                <a:rPr lang="en-US" sz="2099">
                  <a:solidFill>
                    <a:srgbClr val="7A0000"/>
                  </a:solidFill>
                  <a:latin typeface="Questrial"/>
                  <a:ea typeface="Questrial"/>
                  <a:cs typeface="Questrial"/>
                  <a:sym typeface="Questrial"/>
                </a:rPr>
                <a:t>Features with very low correlation were still retained, as they may add value in non-linear models.</a:t>
              </a:r>
            </a:p>
            <a:p>
              <a:pPr algn="just">
                <a:lnSpc>
                  <a:spcPts val="2939"/>
                </a:lnSpc>
              </a:pPr>
              <a:endParaRPr lang="en-US" sz="2099">
                <a:solidFill>
                  <a:srgbClr val="7A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  <a:p>
              <a:pPr marL="453390" lvl="1" indent="-226695" algn="just">
                <a:lnSpc>
                  <a:spcPts val="2939"/>
                </a:lnSpc>
                <a:buFont typeface="Arial"/>
                <a:buChar char="•"/>
              </a:pPr>
              <a:r>
                <a:rPr lang="en-US" sz="2099">
                  <a:solidFill>
                    <a:srgbClr val="7A0000"/>
                  </a:solidFill>
                  <a:latin typeface="Questrial"/>
                  <a:ea typeface="Questrial"/>
                  <a:cs typeface="Questrial"/>
                  <a:sym typeface="Questrial"/>
                </a:rPr>
                <a:t>Based on analysis, alcohol, sulphates, and volatile acidity were selected as the most important predictors.</a:t>
              </a:r>
            </a:p>
            <a:p>
              <a:pPr algn="just">
                <a:lnSpc>
                  <a:spcPts val="2939"/>
                </a:lnSpc>
              </a:pPr>
              <a:endParaRPr lang="en-US" sz="2099">
                <a:solidFill>
                  <a:srgbClr val="7A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C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028700" y="442227"/>
          <a:ext cx="16374929" cy="9402544"/>
        </p:xfrm>
        <a:graphic>
          <a:graphicData uri="http://schemas.openxmlformats.org/drawingml/2006/table">
            <a:tbl>
              <a:tblPr/>
              <a:tblGrid>
                <a:gridCol w="4932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3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2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4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832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3234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ALGORITHM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R2 VALUE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MSE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MAE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REMARK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648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Simple Linear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0.2356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0.499528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0.574966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Alcohol alone — weak fit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648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Multiple Linear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0.4032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0.390025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0.503530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Better than simple LR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4648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K-Nearest Neighbors (KNN)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0.3346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0.434875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0.505625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Sensitive to scaling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4648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Decision Tree Regressor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0.3366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0.433510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0.496386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Nonlinear, can overfit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7478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Random Forest Regressor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0.5390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0.301238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0.422438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Strong, stable ensemble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4648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Gradient Boosting Regressor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0.4648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0.349781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0.457674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Good boosting performance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54648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XGBoost Regressor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0.5087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0.321057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0.402241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Powerful gradient boosting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54648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LightGBM Regressor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0.5186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0.314589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0.421394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Fast, efficient boosting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54648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CatBoost Regressor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0.5631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0.285546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0.413892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Best single-model performance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54648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Stacking Regressor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0.5409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0.300015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0.418013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7A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Ensemble of top models, stable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C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7432324"/>
            <a:chOff x="0" y="0"/>
            <a:chExt cx="21640800" cy="9909765"/>
          </a:xfrm>
        </p:grpSpPr>
        <p:grpSp>
          <p:nvGrpSpPr>
            <p:cNvPr id="3" name="Group 3"/>
            <p:cNvGrpSpPr/>
            <p:nvPr/>
          </p:nvGrpSpPr>
          <p:grpSpPr>
            <a:xfrm>
              <a:off x="10056190" y="3046685"/>
              <a:ext cx="11584610" cy="6863080"/>
              <a:chOff x="0" y="0"/>
              <a:chExt cx="2691222" cy="159436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691222" cy="1594363"/>
              </a:xfrm>
              <a:custGeom>
                <a:avLst/>
                <a:gdLst/>
                <a:ahLst/>
                <a:cxnLst/>
                <a:rect l="l" t="t" r="r" b="b"/>
                <a:pathLst>
                  <a:path w="2691222" h="1594363">
                    <a:moveTo>
                      <a:pt x="0" y="0"/>
                    </a:moveTo>
                    <a:lnTo>
                      <a:pt x="2691222" y="0"/>
                    </a:lnTo>
                    <a:lnTo>
                      <a:pt x="2691222" y="1594363"/>
                    </a:lnTo>
                    <a:lnTo>
                      <a:pt x="0" y="1594363"/>
                    </a:lnTo>
                    <a:close/>
                  </a:path>
                </a:pathLst>
              </a:custGeom>
              <a:solidFill>
                <a:srgbClr val="7A0000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2691222" cy="16134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84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10286313" y="3218158"/>
              <a:ext cx="11153661" cy="6520134"/>
            </a:xfrm>
            <a:custGeom>
              <a:avLst/>
              <a:gdLst/>
              <a:ahLst/>
              <a:cxnLst/>
              <a:rect l="l" t="t" r="r" b="b"/>
              <a:pathLst>
                <a:path w="11153661" h="6520134">
                  <a:moveTo>
                    <a:pt x="0" y="0"/>
                  </a:moveTo>
                  <a:lnTo>
                    <a:pt x="11153661" y="0"/>
                  </a:lnTo>
                  <a:lnTo>
                    <a:pt x="11153661" y="6520134"/>
                  </a:lnTo>
                  <a:lnTo>
                    <a:pt x="0" y="6520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32" r="-832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47625"/>
              <a:ext cx="12956095" cy="2999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401"/>
                </a:lnSpc>
              </a:pPr>
              <a:r>
                <a:rPr lang="en-US" sz="15001">
                  <a:solidFill>
                    <a:srgbClr val="7A0000"/>
                  </a:solidFill>
                  <a:latin typeface="Pinyon Script"/>
                  <a:ea typeface="Pinyon Script"/>
                  <a:cs typeface="Pinyon Script"/>
                  <a:sym typeface="Pinyon Script"/>
                </a:rPr>
                <a:t>Best Model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58193" y="2999060"/>
              <a:ext cx="6733554" cy="6910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just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7A0000"/>
                  </a:solidFill>
                  <a:latin typeface="Questrial"/>
                  <a:ea typeface="Questrial"/>
                  <a:cs typeface="Questrial"/>
                  <a:sym typeface="Questrial"/>
                </a:rPr>
                <a:t>CatBoost achieved the highest accuracy among all models with R² = 0.56 and lowest MSE = 0.28.</a:t>
              </a:r>
            </a:p>
            <a:p>
              <a:pPr algn="just">
                <a:lnSpc>
                  <a:spcPts val="2940"/>
                </a:lnSpc>
              </a:pPr>
              <a:endParaRPr lang="en-US" sz="2100">
                <a:solidFill>
                  <a:srgbClr val="7A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  <a:p>
              <a:pPr marL="453390" lvl="1" indent="-226695" algn="just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7A0000"/>
                  </a:solidFill>
                  <a:latin typeface="Questrial"/>
                  <a:ea typeface="Questrial"/>
                  <a:cs typeface="Questrial"/>
                  <a:sym typeface="Questrial"/>
                </a:rPr>
                <a:t>It efficiently handled complex non-linear relationships in the wine dataset.</a:t>
              </a:r>
            </a:p>
            <a:p>
              <a:pPr algn="just">
                <a:lnSpc>
                  <a:spcPts val="2940"/>
                </a:lnSpc>
              </a:pPr>
              <a:endParaRPr lang="en-US" sz="2100">
                <a:solidFill>
                  <a:srgbClr val="7A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  <a:p>
              <a:pPr marL="453390" lvl="1" indent="-226695" algn="just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7A0000"/>
                  </a:solidFill>
                  <a:latin typeface="Questrial"/>
                  <a:ea typeface="Questrial"/>
                  <a:cs typeface="Questrial"/>
                  <a:sym typeface="Questrial"/>
                </a:rPr>
                <a:t>Key predictors identified: alcohol, sulphates, and volatile acidity.</a:t>
              </a:r>
            </a:p>
            <a:p>
              <a:pPr algn="just">
                <a:lnSpc>
                  <a:spcPts val="2940"/>
                </a:lnSpc>
              </a:pPr>
              <a:endParaRPr lang="en-US" sz="2100">
                <a:solidFill>
                  <a:srgbClr val="7A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  <a:p>
              <a:pPr marL="453390" lvl="1" indent="-226695" algn="just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7A0000"/>
                  </a:solidFill>
                  <a:latin typeface="Questrial"/>
                  <a:ea typeface="Questrial"/>
                  <a:cs typeface="Questrial"/>
                  <a:sym typeface="Questrial"/>
                </a:rPr>
                <a:t>Demonstrated best overall balance between performance, stability, and interpretability.</a:t>
              </a:r>
            </a:p>
            <a:p>
              <a:pPr algn="just">
                <a:lnSpc>
                  <a:spcPts val="2940"/>
                </a:lnSpc>
              </a:pPr>
              <a:endParaRPr lang="en-US" sz="2100">
                <a:solidFill>
                  <a:srgbClr val="7A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C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766649"/>
            <a:ext cx="4923845" cy="2128861"/>
            <a:chOff x="0" y="0"/>
            <a:chExt cx="6565126" cy="283848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6565126" cy="2838481"/>
              <a:chOff x="0" y="0"/>
              <a:chExt cx="1587951" cy="68656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587951" cy="686562"/>
              </a:xfrm>
              <a:custGeom>
                <a:avLst/>
                <a:gdLst/>
                <a:ahLst/>
                <a:cxnLst/>
                <a:rect l="l" t="t" r="r" b="b"/>
                <a:pathLst>
                  <a:path w="1587951" h="686562">
                    <a:moveTo>
                      <a:pt x="0" y="0"/>
                    </a:moveTo>
                    <a:lnTo>
                      <a:pt x="1587951" y="0"/>
                    </a:lnTo>
                    <a:lnTo>
                      <a:pt x="1587951" y="686562"/>
                    </a:lnTo>
                    <a:lnTo>
                      <a:pt x="0" y="686562"/>
                    </a:lnTo>
                    <a:close/>
                  </a:path>
                </a:pathLst>
              </a:custGeom>
              <a:solidFill>
                <a:srgbClr val="E1DCDB"/>
              </a:solidFill>
              <a:ln w="19050" cap="sq">
                <a:solidFill>
                  <a:srgbClr val="7A000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0"/>
                <a:ext cx="1587951" cy="6865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87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571127" y="270568"/>
              <a:ext cx="5422873" cy="23198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7A0000"/>
                  </a:solidFill>
                  <a:latin typeface="Questrial"/>
                  <a:ea typeface="Questrial"/>
                  <a:cs typeface="Questrial"/>
                  <a:sym typeface="Questrial"/>
                </a:rPr>
                <a:t>CatBoost Regressor delivered the best results with an R² score of 0.56 and the lowest MSE (0.28), proving highly effective in capturing complex non-linear relationships.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89888" y="3859359"/>
            <a:ext cx="4923845" cy="1943441"/>
            <a:chOff x="0" y="0"/>
            <a:chExt cx="6565126" cy="259125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6565126" cy="2591254"/>
              <a:chOff x="0" y="0"/>
              <a:chExt cx="1587951" cy="62676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587951" cy="626764"/>
              </a:xfrm>
              <a:custGeom>
                <a:avLst/>
                <a:gdLst/>
                <a:ahLst/>
                <a:cxnLst/>
                <a:rect l="l" t="t" r="r" b="b"/>
                <a:pathLst>
                  <a:path w="1587951" h="626764">
                    <a:moveTo>
                      <a:pt x="0" y="0"/>
                    </a:moveTo>
                    <a:lnTo>
                      <a:pt x="1587951" y="0"/>
                    </a:lnTo>
                    <a:lnTo>
                      <a:pt x="1587951" y="626764"/>
                    </a:lnTo>
                    <a:lnTo>
                      <a:pt x="0" y="626764"/>
                    </a:lnTo>
                    <a:close/>
                  </a:path>
                </a:pathLst>
              </a:custGeom>
              <a:solidFill>
                <a:srgbClr val="E1DCDB"/>
              </a:solidFill>
              <a:ln w="19050" cap="sq">
                <a:solidFill>
                  <a:srgbClr val="7A00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0"/>
                <a:ext cx="1587951" cy="6267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1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526491" y="468060"/>
              <a:ext cx="5422873" cy="1663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9"/>
                </a:lnSpc>
              </a:pPr>
              <a:r>
                <a:rPr lang="en-US" sz="1799">
                  <a:solidFill>
                    <a:srgbClr val="7A0000"/>
                  </a:solidFill>
                  <a:latin typeface="Questrial"/>
                  <a:ea typeface="Questrial"/>
                  <a:cs typeface="Questrial"/>
                  <a:sym typeface="Questrial"/>
                </a:rPr>
                <a:t>The analysis revealed that alcohol, sulphates, and volatile acidity are the most influential factors affecting wine quality.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90622" y="6498744"/>
            <a:ext cx="4923845" cy="2405086"/>
            <a:chOff x="0" y="0"/>
            <a:chExt cx="6565126" cy="3206781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6565126" cy="3206781"/>
              <a:chOff x="0" y="0"/>
              <a:chExt cx="1587951" cy="77564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587951" cy="775645"/>
              </a:xfrm>
              <a:custGeom>
                <a:avLst/>
                <a:gdLst/>
                <a:ahLst/>
                <a:cxnLst/>
                <a:rect l="l" t="t" r="r" b="b"/>
                <a:pathLst>
                  <a:path w="1587951" h="775645">
                    <a:moveTo>
                      <a:pt x="0" y="0"/>
                    </a:moveTo>
                    <a:lnTo>
                      <a:pt x="1587951" y="0"/>
                    </a:lnTo>
                    <a:lnTo>
                      <a:pt x="1587951" y="775645"/>
                    </a:lnTo>
                    <a:lnTo>
                      <a:pt x="0" y="775645"/>
                    </a:lnTo>
                    <a:close/>
                  </a:path>
                </a:pathLst>
              </a:custGeom>
              <a:solidFill>
                <a:srgbClr val="E1DCDB"/>
              </a:solidFill>
              <a:ln w="19050" cap="sq">
                <a:solidFill>
                  <a:srgbClr val="7A0000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0"/>
                <a:ext cx="1587951" cy="7756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87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571127" y="659357"/>
              <a:ext cx="5422873" cy="18499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7A0000"/>
                  </a:solidFill>
                  <a:latin typeface="Questrial"/>
                  <a:ea typeface="Questrial"/>
                  <a:cs typeface="Questrial"/>
                  <a:sym typeface="Questrial"/>
                </a:rPr>
                <a:t>Simpler models such as Linear Regression and KNN were less effective due to the dataset’s non-linear nature.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068772" y="6498744"/>
            <a:ext cx="4923845" cy="2090761"/>
            <a:chOff x="0" y="0"/>
            <a:chExt cx="6565126" cy="2787681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6565126" cy="2787681"/>
              <a:chOff x="0" y="0"/>
              <a:chExt cx="1587951" cy="67427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587951" cy="674275"/>
              </a:xfrm>
              <a:custGeom>
                <a:avLst/>
                <a:gdLst/>
                <a:ahLst/>
                <a:cxnLst/>
                <a:rect l="l" t="t" r="r" b="b"/>
                <a:pathLst>
                  <a:path w="1587951" h="674275">
                    <a:moveTo>
                      <a:pt x="0" y="0"/>
                    </a:moveTo>
                    <a:lnTo>
                      <a:pt x="1587951" y="0"/>
                    </a:lnTo>
                    <a:lnTo>
                      <a:pt x="1587951" y="674275"/>
                    </a:lnTo>
                    <a:lnTo>
                      <a:pt x="0" y="674275"/>
                    </a:lnTo>
                    <a:close/>
                  </a:path>
                </a:pathLst>
              </a:custGeom>
              <a:solidFill>
                <a:srgbClr val="E1DCDB"/>
              </a:solidFill>
              <a:ln w="19050" cap="sq">
                <a:solidFill>
                  <a:srgbClr val="7A0000"/>
                </a:solidFill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0"/>
                <a:ext cx="1587951" cy="674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87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526491" y="477585"/>
              <a:ext cx="5422873" cy="18499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7A0000"/>
                  </a:solidFill>
                  <a:latin typeface="Questrial"/>
                  <a:ea typeface="Questrial"/>
                  <a:cs typeface="Questrial"/>
                  <a:sym typeface="Questrial"/>
                </a:rPr>
                <a:t>Overall, the results demonstrate that ensemble models provide more accurate, stable, and interpretable predictions for wine quality.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530694" y="3766649"/>
            <a:ext cx="4923845" cy="2023595"/>
            <a:chOff x="0" y="0"/>
            <a:chExt cx="6565126" cy="2698127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6565126" cy="2698127"/>
              <a:chOff x="0" y="0"/>
              <a:chExt cx="1587951" cy="65261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587951" cy="652614"/>
              </a:xfrm>
              <a:custGeom>
                <a:avLst/>
                <a:gdLst/>
                <a:ahLst/>
                <a:cxnLst/>
                <a:rect l="l" t="t" r="r" b="b"/>
                <a:pathLst>
                  <a:path w="1587951" h="652614">
                    <a:moveTo>
                      <a:pt x="0" y="0"/>
                    </a:moveTo>
                    <a:lnTo>
                      <a:pt x="1587951" y="0"/>
                    </a:lnTo>
                    <a:lnTo>
                      <a:pt x="1587951" y="652614"/>
                    </a:lnTo>
                    <a:lnTo>
                      <a:pt x="0" y="652614"/>
                    </a:lnTo>
                    <a:close/>
                  </a:path>
                </a:pathLst>
              </a:custGeom>
              <a:solidFill>
                <a:srgbClr val="E1DCDB"/>
              </a:solidFill>
              <a:ln w="19050" cap="sq">
                <a:solidFill>
                  <a:srgbClr val="7A00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0"/>
                <a:ext cx="1587951" cy="6526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1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571127" y="265814"/>
              <a:ext cx="5422873" cy="2082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9"/>
                </a:lnSpc>
              </a:pPr>
              <a:r>
                <a:rPr lang="en-US" sz="1799">
                  <a:solidFill>
                    <a:srgbClr val="7A0000"/>
                  </a:solidFill>
                  <a:latin typeface="Questrial"/>
                  <a:ea typeface="Questrial"/>
                  <a:cs typeface="Questrial"/>
                  <a:sym typeface="Questrial"/>
                </a:rPr>
                <a:t>Wine quality mainly depends on alcohol, sulphates, and volatile acidity.</a:t>
              </a:r>
            </a:p>
            <a:p>
              <a:pPr algn="ctr">
                <a:lnSpc>
                  <a:spcPts val="2519"/>
                </a:lnSpc>
              </a:pPr>
              <a:r>
                <a:rPr lang="en-US" sz="1799">
                  <a:solidFill>
                    <a:srgbClr val="7A0000"/>
                  </a:solidFill>
                  <a:latin typeface="Questrial"/>
                  <a:ea typeface="Questrial"/>
                  <a:cs typeface="Questrial"/>
                  <a:sym typeface="Questrial"/>
                </a:rPr>
                <a:t> Higher alcohol and balanced sulphate levels increase quality, while higher volatile acidity lowers it.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5602261" y="1076325"/>
            <a:ext cx="7499100" cy="2238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01"/>
              </a:lnSpc>
            </a:pPr>
            <a:r>
              <a:rPr lang="en-US" sz="15001">
                <a:solidFill>
                  <a:srgbClr val="7A0000"/>
                </a:solidFill>
                <a:latin typeface="Pinyon Script"/>
                <a:ea typeface="Pinyon Script"/>
                <a:cs typeface="Pinyon Script"/>
                <a:sym typeface="Pinyon Script"/>
              </a:rPr>
              <a:t>Conclusion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814367" y="6498744"/>
            <a:ext cx="4923845" cy="26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7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C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62804" y="135012"/>
            <a:ext cx="13962392" cy="10016975"/>
          </a:xfrm>
          <a:custGeom>
            <a:avLst/>
            <a:gdLst/>
            <a:ahLst/>
            <a:cxnLst/>
            <a:rect l="l" t="t" r="r" b="b"/>
            <a:pathLst>
              <a:path w="13962392" h="10016975">
                <a:moveTo>
                  <a:pt x="0" y="0"/>
                </a:moveTo>
                <a:lnTo>
                  <a:pt x="13962392" y="0"/>
                </a:lnTo>
                <a:lnTo>
                  <a:pt x="13962392" y="10016976"/>
                </a:lnTo>
                <a:lnTo>
                  <a:pt x="0" y="10016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238" b="-746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475932" y="3699828"/>
            <a:ext cx="13238516" cy="2474221"/>
            <a:chOff x="0" y="0"/>
            <a:chExt cx="3486687" cy="6516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486687" cy="651647"/>
            </a:xfrm>
            <a:custGeom>
              <a:avLst/>
              <a:gdLst/>
              <a:ahLst/>
              <a:cxnLst/>
              <a:rect l="l" t="t" r="r" b="b"/>
              <a:pathLst>
                <a:path w="3486687" h="651647">
                  <a:moveTo>
                    <a:pt x="0" y="0"/>
                  </a:moveTo>
                  <a:lnTo>
                    <a:pt x="3486687" y="0"/>
                  </a:lnTo>
                  <a:lnTo>
                    <a:pt x="3486687" y="651647"/>
                  </a:lnTo>
                  <a:lnTo>
                    <a:pt x="0" y="651647"/>
                  </a:lnTo>
                  <a:close/>
                </a:path>
              </a:pathLst>
            </a:custGeom>
            <a:solidFill>
              <a:srgbClr val="E1DCD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3486687" cy="6516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7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186410" y="3776028"/>
            <a:ext cx="9915179" cy="2811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39"/>
              </a:lnSpc>
            </a:pPr>
            <a:r>
              <a:rPr lang="en-US" sz="18999">
                <a:solidFill>
                  <a:srgbClr val="7A0000"/>
                </a:solidFill>
                <a:latin typeface="Pinyon Script"/>
                <a:ea typeface="Pinyon Script"/>
                <a:cs typeface="Pinyon Script"/>
                <a:sym typeface="Pinyon Scrip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550</Words>
  <Application>Microsoft Office PowerPoint</Application>
  <PresentationFormat>Custom</PresentationFormat>
  <Paragraphs>104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Questrial</vt:lpstr>
      <vt:lpstr>Garet Bold Italics</vt:lpstr>
      <vt:lpstr>RQND Pro Condensed</vt:lpstr>
      <vt:lpstr>Fira Code Bold</vt:lpstr>
      <vt:lpstr>Pinyon Script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and Beige Vintage Law Presentation</dc:title>
  <cp:lastModifiedBy>Khushi Dekate</cp:lastModifiedBy>
  <cp:revision>1</cp:revision>
  <dcterms:created xsi:type="dcterms:W3CDTF">2006-08-16T00:00:00Z</dcterms:created>
  <dcterms:modified xsi:type="dcterms:W3CDTF">2025-11-03T16:46:11Z</dcterms:modified>
  <dc:identifier>DAG3kaoHiMo</dc:identifier>
</cp:coreProperties>
</file>